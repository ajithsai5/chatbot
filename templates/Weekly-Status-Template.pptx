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550" r:id="rId5"/>
    <p:sldId id="667" r:id="rId6"/>
    <p:sldId id="55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5F667B-6870-4743-A946-42702A112EC8}">
          <p14:sldIdLst>
            <p14:sldId id="550"/>
          </p14:sldIdLst>
        </p14:section>
        <p14:section name="Eagle Team Status" id="{A076E5B7-D9EC-4D73-B973-CF0FAF244D88}">
          <p14:sldIdLst>
            <p14:sldId id="667"/>
          </p14:sldIdLst>
        </p14:section>
        <p14:section name="Release/ Holiday Dates Template" id="{7FEB88D1-DB21-4E77-A44D-736180AC5677}">
          <p14:sldIdLst>
            <p14:sldId id="5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D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E1BE2-7D44-31A2-F027-8FFFC09E9BF9}" v="112" dt="2026-02-23T07:23:17.707"/>
    <p1510:client id="{498D74F3-54DC-697C-C06D-D8C5871FAD0F}" v="232" dt="2026-02-23T10:12:38.230"/>
    <p1510:client id="{DE99CD46-9196-F449-952A-9713284A8F01}" v="257" dt="2026-02-23T14:04:54.635"/>
    <p1510:client id="{DFA3E042-59C4-F349-BBD7-C758679E9625}" v="299" dt="2026-02-23T15:26:20.3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96C74-6838-4E70-BB8C-5A54E94352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4865-C72F-4937-BF91-228A60E6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8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78324" y="2378749"/>
            <a:ext cx="6349390" cy="147002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300" spc="-67"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8" y="5808209"/>
            <a:ext cx="2012174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27F661-382B-BC47-B53A-37C814026FC3}"/>
              </a:ext>
            </a:extLst>
          </p:cNvPr>
          <p:cNvGrpSpPr/>
          <p:nvPr/>
        </p:nvGrpSpPr>
        <p:grpSpPr>
          <a:xfrm>
            <a:off x="5335594" y="6205141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4A353D-2250-8848-B6A0-16BF03C42779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64EB3198-E83E-A24B-AA77-090BB5B1A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7B8663-024F-8F4F-82F1-488E09622219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418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8" y="5808209"/>
            <a:ext cx="2012174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DBE942-5C20-1049-963F-D9BDD4B704AD}"/>
              </a:ext>
            </a:extLst>
          </p:cNvPr>
          <p:cNvGrpSpPr/>
          <p:nvPr/>
        </p:nvGrpSpPr>
        <p:grpSpPr>
          <a:xfrm>
            <a:off x="5629224" y="2878487"/>
            <a:ext cx="6493017" cy="499576"/>
            <a:chOff x="4221917" y="2158865"/>
            <a:chExt cx="4869763" cy="37468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ABAC76-EE16-9C4A-A031-E26084E221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E8C3CA4-D98A-0649-BB27-B61F761535E4}"/>
                </a:ext>
              </a:extLst>
            </p:cNvPr>
            <p:cNvSpPr txBox="1"/>
            <p:nvPr userDrawn="1"/>
          </p:nvSpPr>
          <p:spPr>
            <a:xfrm>
              <a:off x="6708459" y="2158865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3200" b="1" spc="-67">
                  <a:solidFill>
                    <a:srgbClr val="8C9599">
                      <a:lumMod val="50000"/>
                    </a:srgbClr>
                  </a:solidFill>
                </a:rPr>
                <a:t>Better Together</a:t>
              </a:r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B7303F-E15F-E84C-8DB3-E150AE7EF477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5B8ADC-EA55-6544-906B-071EFDD2ADDC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C94635-322A-2C4E-94AC-588E33D0DB81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891785-D783-D04D-B092-61D9C04EA8EC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651B17-76E2-854A-9AE8-173330B26C25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B56E0-DBB7-1140-91A3-4BFC37341F76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686D8C-3165-114E-97BD-E8628EC7F395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85349C-A7B3-7645-B904-34B35CE09072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B7D536-858E-3042-939D-08F6CE80A072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FF8F98-788B-C346-AEA6-89E493CA8DEA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960768-09EF-714E-810E-CDE100123881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A93E3B-566E-954B-B276-F34642446AE2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3E8253-2CAE-E147-8D81-B5BAA6E050F8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432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F815FE-B4CF-6A4A-B94A-CEF58EAFE6A1}"/>
              </a:ext>
            </a:extLst>
          </p:cNvPr>
          <p:cNvSpPr/>
          <p:nvPr/>
        </p:nvSpPr>
        <p:spPr>
          <a:xfrm>
            <a:off x="2989690" y="0"/>
            <a:ext cx="9202310" cy="57094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9" tIns="60954" rIns="121909" bIns="60954" rtlCol="0" anchor="ctr"/>
          <a:lstStyle/>
          <a:p>
            <a:pPr algn="ctr" defTabSz="1219082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2389188"/>
            <a:ext cx="6080097" cy="735013"/>
          </a:xfrm>
          <a:prstGeom prst="rect">
            <a:avLst/>
          </a:prstGeom>
        </p:spPr>
        <p:txBody>
          <a:bodyPr vert="horz" lIns="121909" tIns="60954" rIns="121909" bIns="60954" rtlCol="0" anchor="b">
            <a:noAutofit/>
          </a:bodyPr>
          <a:lstStyle>
            <a:lvl1pPr>
              <a:defRPr lang="en-US" sz="3200" spc="-67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DFD66A-0FEA-9E43-85A5-272F33EA95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8" y="5808209"/>
            <a:ext cx="2012174" cy="6315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26EC48-BD49-014A-A1EC-F94585FABBA0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D574683D-4DBB-5249-AF45-F413E53A063F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2A6D0B0A-9FFE-5C41-849B-440463C5C46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9432091A-B9E0-5C4A-9F0C-8E699C05493C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sp>
        <p:nvSpPr>
          <p:cNvPr id="16" name="Subtitle 2">
            <a:extLst>
              <a:ext uri="{FF2B5EF4-FFF2-40B4-BE49-F238E27FC236}">
                <a16:creationId xmlns:a16="http://schemas.microsoft.com/office/drawing/2014/main" id="{96A4AACE-0F03-3C4F-B453-5659CF3AE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018" y="3124202"/>
            <a:ext cx="6059480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7" baseline="0">
                <a:solidFill>
                  <a:schemeClr val="accent3"/>
                </a:solidFill>
              </a:defRPr>
            </a:lvl1pPr>
            <a:lvl2pPr marL="609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C783B4-CAA9-3043-97CE-E88A30110BD7}"/>
              </a:ext>
            </a:extLst>
          </p:cNvPr>
          <p:cNvGrpSpPr/>
          <p:nvPr/>
        </p:nvGrpSpPr>
        <p:grpSpPr>
          <a:xfrm>
            <a:off x="5321166" y="6205141"/>
            <a:ext cx="3479121" cy="306732"/>
            <a:chOff x="744483" y="4848998"/>
            <a:chExt cx="2609341" cy="2300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4A5DB9-461A-E340-AACF-9C2853D86132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26" name="Title 3">
              <a:extLst>
                <a:ext uri="{FF2B5EF4-FFF2-40B4-BE49-F238E27FC236}">
                  <a16:creationId xmlns:a16="http://schemas.microsoft.com/office/drawing/2014/main" id="{1BE5FF10-1BE6-9047-82EE-93D1BC6536C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1D7E35-E8BA-D447-A285-6C09E8673F3D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213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371600"/>
            <a:ext cx="10515600" cy="4800600"/>
          </a:xfrm>
        </p:spPr>
        <p:txBody>
          <a:bodyPr>
            <a:noAutofit/>
          </a:bodyPr>
          <a:lstStyle>
            <a:lvl2pPr marL="457156" indent="-203181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38879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>
                <a:solidFill>
                  <a:srgbClr val="8C9599"/>
                </a:solidFill>
              </a:rPr>
              <a:pPr/>
              <a:t>‹#›</a:t>
            </a:fld>
            <a:endParaRPr lang="en-US">
              <a:solidFill>
                <a:srgbClr val="8C9599"/>
              </a:solidFill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1EAF9A4-A042-254F-8E1D-C5357A29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295801"/>
            <a:ext cx="7694245" cy="700426"/>
          </a:xfrm>
          <a:prstGeom prst="rect">
            <a:avLst/>
          </a:prstGeom>
        </p:spPr>
        <p:txBody>
          <a:bodyPr vert="horz" lIns="121909" tIns="60954" rIns="121909" bIns="60954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949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8760917" y="996952"/>
            <a:ext cx="3431116" cy="5463116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1" y="1371600"/>
            <a:ext cx="7694245" cy="4800600"/>
          </a:xfrm>
        </p:spPr>
        <p:txBody>
          <a:bodyPr>
            <a:noAutofit/>
          </a:bodyPr>
          <a:lstStyle>
            <a:lvl2pPr marL="457156" indent="-203181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>
                <a:solidFill>
                  <a:srgbClr val="8C9599"/>
                </a:solidFill>
              </a:rPr>
              <a:pPr/>
              <a:t>‹#›</a:t>
            </a:fld>
            <a:endParaRPr lang="en-US">
              <a:solidFill>
                <a:srgbClr val="8C9599"/>
              </a:solidFill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5E8B961-8F8E-6C40-AE35-177DF272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295801"/>
            <a:ext cx="7694245" cy="700426"/>
          </a:xfrm>
          <a:prstGeom prst="rect">
            <a:avLst/>
          </a:prstGeom>
        </p:spPr>
        <p:txBody>
          <a:bodyPr vert="horz" lIns="121909" tIns="60954" rIns="121909" bIns="60954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>
                <a:solidFill>
                  <a:srgbClr val="8C9599"/>
                </a:solidFill>
              </a:rPr>
              <a:pPr/>
              <a:t>‹#›</a:t>
            </a:fld>
            <a:endParaRPr lang="en-US">
              <a:solidFill>
                <a:srgbClr val="8C95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67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6FB6AC-EF27-3A48-8C2A-ECD2232A38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" t="11915" b="14209"/>
          <a:stretch/>
        </p:blipFill>
        <p:spPr>
          <a:xfrm>
            <a:off x="3332342" y="2"/>
            <a:ext cx="8859657" cy="44739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4827007"/>
            <a:ext cx="6133107" cy="62253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000" spc="-67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2"/>
            <a:ext cx="6059480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7" baseline="0">
                <a:solidFill>
                  <a:schemeClr val="accent3"/>
                </a:solidFill>
              </a:defRPr>
            </a:lvl1pPr>
            <a:lvl2pPr marL="609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C1B2AB-BBAD-E74D-900D-B1D6577B4EEF}"/>
              </a:ext>
            </a:extLst>
          </p:cNvPr>
          <p:cNvGrpSpPr/>
          <p:nvPr/>
        </p:nvGrpSpPr>
        <p:grpSpPr>
          <a:xfrm>
            <a:off x="5328380" y="6205141"/>
            <a:ext cx="3479121" cy="306732"/>
            <a:chOff x="744483" y="4848998"/>
            <a:chExt cx="2609341" cy="2300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3370BE-5C48-5C43-90D3-FA8018A9022B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21" name="Title 3">
              <a:extLst>
                <a:ext uri="{FF2B5EF4-FFF2-40B4-BE49-F238E27FC236}">
                  <a16:creationId xmlns:a16="http://schemas.microsoft.com/office/drawing/2014/main" id="{EB7D1992-1891-A542-9135-2BA4EF7A2A5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2C6D60-2FE2-0842-BF79-2D19682FEC3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759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F41E83-83E3-824C-B05A-8A5546B4DF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12318" b="14800"/>
          <a:stretch/>
        </p:blipFill>
        <p:spPr>
          <a:xfrm>
            <a:off x="3231376" y="1"/>
            <a:ext cx="8960624" cy="44809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F5DD42CD-EE00-1446-8F2A-C82DE4129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4827007"/>
            <a:ext cx="6133107" cy="62253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000" spc="-67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FD8F51-BFFC-3841-A417-4C0A7270D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2"/>
            <a:ext cx="6059480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7" baseline="0">
                <a:solidFill>
                  <a:schemeClr val="accent3"/>
                </a:solidFill>
              </a:defRPr>
            </a:lvl1pPr>
            <a:lvl2pPr marL="609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8822F6-18DD-0A4E-A8D7-ED719A9B245A}"/>
              </a:ext>
            </a:extLst>
          </p:cNvPr>
          <p:cNvGrpSpPr/>
          <p:nvPr/>
        </p:nvGrpSpPr>
        <p:grpSpPr>
          <a:xfrm>
            <a:off x="5328380" y="6205141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34D32D-7C09-EB4A-9EC5-DB5B33369ED0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17BC5B71-5229-E648-A753-F08447F372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89C5A0-DA9D-4549-947B-FB5584F4750A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927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B74B01-997D-4342-8638-CC9D66A5B2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" b="12293"/>
          <a:stretch/>
        </p:blipFill>
        <p:spPr>
          <a:xfrm>
            <a:off x="2983571" y="0"/>
            <a:ext cx="9208430" cy="44704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B71D31DB-8BCA-7042-B94D-76954AEA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4827007"/>
            <a:ext cx="6133107" cy="62253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000" spc="-67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E37C1BC-8CB7-5F4C-9252-0CCB40049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2"/>
            <a:ext cx="6059480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7" baseline="0">
                <a:solidFill>
                  <a:schemeClr val="accent3"/>
                </a:solidFill>
              </a:defRPr>
            </a:lvl1pPr>
            <a:lvl2pPr marL="609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9F12B0-5D5F-2145-B861-AF9E8A85FB89}"/>
              </a:ext>
            </a:extLst>
          </p:cNvPr>
          <p:cNvGrpSpPr/>
          <p:nvPr/>
        </p:nvGrpSpPr>
        <p:grpSpPr>
          <a:xfrm>
            <a:off x="5328380" y="6205141"/>
            <a:ext cx="3479121" cy="306732"/>
            <a:chOff x="744483" y="4848998"/>
            <a:chExt cx="2609341" cy="23004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FFD12B-A382-5844-A4D2-92C01109B222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23" name="Title 3">
              <a:extLst>
                <a:ext uri="{FF2B5EF4-FFF2-40B4-BE49-F238E27FC236}">
                  <a16:creationId xmlns:a16="http://schemas.microsoft.com/office/drawing/2014/main" id="{95B75683-1196-5948-9C0B-65AB17405A2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0786FC-F9CF-0340-A9EB-A657DA3E5FF4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574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5F41C1-ED0A-894A-B3CF-5F7CFFB84A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5" t="21323" b="11914"/>
          <a:stretch/>
        </p:blipFill>
        <p:spPr>
          <a:xfrm>
            <a:off x="3290850" y="0"/>
            <a:ext cx="8901151" cy="44604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5672ECA-8BDB-C24D-A85A-A65E8F046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4827007"/>
            <a:ext cx="6133107" cy="62253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000" spc="-67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8999BF5-F786-F14D-B7C2-C2BCC5AE8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2"/>
            <a:ext cx="6059480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7" baseline="0">
                <a:solidFill>
                  <a:schemeClr val="accent3"/>
                </a:solidFill>
              </a:defRPr>
            </a:lvl1pPr>
            <a:lvl2pPr marL="609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3885AB-AADA-2746-98D6-78E2B96B17F2}"/>
              </a:ext>
            </a:extLst>
          </p:cNvPr>
          <p:cNvGrpSpPr/>
          <p:nvPr/>
        </p:nvGrpSpPr>
        <p:grpSpPr>
          <a:xfrm>
            <a:off x="5328380" y="6205141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6DD190-D481-8245-8459-30F06A13D612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08253C4F-2669-6C49-8F4E-00818047DE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0B4BEC-A07A-3443-957E-21680C8E6C1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283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8902BF-5D3A-9D49-BF43-9A572D0E62E4}"/>
              </a:ext>
            </a:extLst>
          </p:cNvPr>
          <p:cNvSpPr/>
          <p:nvPr/>
        </p:nvSpPr>
        <p:spPr>
          <a:xfrm>
            <a:off x="3292441" y="2674"/>
            <a:ext cx="8916063" cy="44902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9" tIns="60954" rIns="121909" bIns="60954" rtlCol="0" anchor="ctr"/>
          <a:lstStyle/>
          <a:p>
            <a:pPr algn="ctr" defTabSz="1219082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5079592"/>
            <a:ext cx="6133107" cy="62253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000" spc="-67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/>
        </p:nvGrpSpPr>
        <p:grpSpPr>
          <a:xfrm>
            <a:off x="906052" y="2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715688"/>
            <a:ext cx="6059480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7" baseline="0">
                <a:solidFill>
                  <a:schemeClr val="accent3"/>
                </a:solidFill>
              </a:defRPr>
            </a:lvl1pPr>
            <a:lvl2pPr marL="609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DAAC04-46A3-9B4E-9CC6-921207BBC5C4}"/>
              </a:ext>
            </a:extLst>
          </p:cNvPr>
          <p:cNvGrpSpPr/>
          <p:nvPr/>
        </p:nvGrpSpPr>
        <p:grpSpPr>
          <a:xfrm>
            <a:off x="5629224" y="2878487"/>
            <a:ext cx="6493017" cy="499576"/>
            <a:chOff x="4221917" y="2158865"/>
            <a:chExt cx="4869763" cy="37468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AED680D-2C61-9D4B-9565-8D8D277897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F97882-EB61-A348-82F0-BAE1DB338F22}"/>
                </a:ext>
              </a:extLst>
            </p:cNvPr>
            <p:cNvSpPr txBox="1"/>
            <p:nvPr userDrawn="1"/>
          </p:nvSpPr>
          <p:spPr>
            <a:xfrm>
              <a:off x="6708459" y="2158865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3200" b="1" spc="-67">
                  <a:solidFill>
                    <a:srgbClr val="8C9599">
                      <a:lumMod val="50000"/>
                    </a:srgbClr>
                  </a:solidFill>
                </a:rPr>
                <a:t>Better Together</a:t>
              </a:r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E8895A3-93F5-7944-AEE5-FACB36E109ED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059CF6-8D1F-9943-898B-158F304BF319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B04F91-35AA-8E4F-AAF0-95F37C9B2FA7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684C28-7525-724C-9EAB-7DC4FF5A56E0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1E7D71-4677-3545-983E-8A7D397B4458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9B402F-C17E-CF41-85D9-62C73BC68667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5E1ECD-3484-6846-B7EF-B0B83FDF788A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1FAAAC-2C46-7A45-A7DC-8F71137BBF70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C28EED-2DF9-1C4B-B18F-FA6112A46BBA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2C23FB-3FB0-1F48-9224-183CD40B520C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2C33C4-2EED-1B47-AE64-18CE95053628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2FEC70-A84A-A843-95D5-2DEE5D0F34FB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275691-F2D1-9240-A849-36C54E8F5AE4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082"/>
              <a:endParaRPr lang="en-US" sz="3200" b="1" spc="-67">
                <a:solidFill>
                  <a:srgbClr val="8C9599">
                    <a:lumMod val="50000"/>
                  </a:srgbClr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100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0000" y="6528278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>
                <a:solidFill>
                  <a:srgbClr val="8C9599"/>
                </a:solidFill>
              </a:rPr>
              <a:pPr/>
              <a:t>‹#›</a:t>
            </a:fld>
            <a:endParaRPr lang="en-US">
              <a:solidFill>
                <a:srgbClr val="8C95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71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1" y="1371600"/>
            <a:ext cx="7694245" cy="4800600"/>
          </a:xfrm>
          <a:prstGeom prst="rect">
            <a:avLst/>
          </a:prstGeom>
        </p:spPr>
        <p:txBody>
          <a:bodyPr vert="horz" lIns="121909" tIns="60954" rIns="121909" bIns="609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528278"/>
            <a:ext cx="1422400" cy="16784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defTabSz="1219082"/>
            <a:fld id="{90F9BDA0-AF0E-4BA8-B742-3B9C92A3E6FE}" type="slidenum">
              <a:rPr lang="en-US" smtClean="0">
                <a:solidFill>
                  <a:srgbClr val="8C9599"/>
                </a:solidFill>
              </a:rPr>
              <a:pPr defTabSz="1219082"/>
              <a:t>‹#›</a:t>
            </a:fld>
            <a:endParaRPr lang="en-US">
              <a:solidFill>
                <a:srgbClr val="8C9599"/>
              </a:solidFill>
            </a:endParaRP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>
            <a:off x="1219200" y="990600"/>
            <a:ext cx="10972816" cy="0"/>
          </a:xfrm>
          <a:prstGeom prst="line">
            <a:avLst/>
          </a:prstGeom>
          <a:solidFill>
            <a:srgbClr val="798387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4786783" y="6601409"/>
            <a:ext cx="5331910" cy="9472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 defTabSz="1219082"/>
            <a:r>
              <a:rPr lang="en-US" sz="600">
                <a:solidFill>
                  <a:srgbClr val="FFFFFF">
                    <a:lumMod val="65000"/>
                  </a:srgbClr>
                </a:solidFill>
                <a:cs typeface="Arial"/>
              </a:rPr>
              <a:t>Proprietary information of UnitedHealth Group. Do not distribute or reproduce without express permission of UnitedHealth Group.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>
            <a:off x="1234951" y="6394556"/>
            <a:ext cx="10957066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8C95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1"/>
          <p:cNvSpPr/>
          <p:nvPr/>
        </p:nvSpPr>
        <p:spPr bwMode="auto">
          <a:xfrm rot="10800000" flipH="1">
            <a:off x="1" y="1"/>
            <a:ext cx="304800" cy="685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121909" tIns="60954" rIns="121909" bIns="60954" numCol="1" rtlCol="0" anchor="ctr" anchorCtr="0" compatLnSpc="1">
            <a:prstTxWarp prst="textNoShape">
              <a:avLst/>
            </a:prstTxWarp>
          </a:bodyPr>
          <a:lstStyle/>
          <a:p>
            <a:pPr algn="ctr" defTabSz="1219082" fontAlgn="base">
              <a:spcBef>
                <a:spcPct val="0"/>
              </a:spcBef>
              <a:spcAft>
                <a:spcPct val="0"/>
              </a:spcAft>
            </a:pPr>
            <a:endParaRPr lang="en-US" sz="3000">
              <a:solidFill>
                <a:srgbClr val="00A8F7"/>
              </a:solidFill>
              <a:ea typeface="ＭＳ Ｐゴシック" pitchFamily="34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BBB795-6B12-8143-BD39-224A5014408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843" y="240545"/>
            <a:ext cx="2012174" cy="63152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84591-42A7-CD48-8BF3-E973F9116F26}"/>
              </a:ext>
            </a:extLst>
          </p:cNvPr>
          <p:cNvGrpSpPr/>
          <p:nvPr/>
        </p:nvGrpSpPr>
        <p:grpSpPr>
          <a:xfrm>
            <a:off x="440165" y="295800"/>
            <a:ext cx="636973" cy="858842"/>
            <a:chOff x="679539" y="1"/>
            <a:chExt cx="3815548" cy="5144568"/>
          </a:xfrm>
        </p:grpSpPr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6B50E7A6-06FD-7C42-8BA6-11059A2E76FE}"/>
                </a:ext>
              </a:extLst>
            </p:cNvPr>
            <p:cNvSpPr/>
            <p:nvPr userDrawn="1"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B505635B-F8A4-0A4D-B76F-B38ACD2EFA0A}"/>
                </a:ext>
              </a:extLst>
            </p:cNvPr>
            <p:cNvSpPr/>
            <p:nvPr userDrawn="1"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CD8845-FF64-784F-97B0-A9EC406E4027}"/>
                </a:ext>
              </a:extLst>
            </p:cNvPr>
            <p:cNvSpPr/>
            <p:nvPr userDrawn="1"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82"/>
              <a:endParaRPr lang="en-US" sz="2400">
                <a:solidFill>
                  <a:srgbClr val="8C9599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35946B5-B7F7-3847-880B-D8559EFA6D30}"/>
              </a:ext>
            </a:extLst>
          </p:cNvPr>
          <p:cNvGrpSpPr/>
          <p:nvPr/>
        </p:nvGrpSpPr>
        <p:grpSpPr>
          <a:xfrm>
            <a:off x="934928" y="6465332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7686B8-9398-AB44-9F8B-556F17CC646D}"/>
                </a:ext>
              </a:extLst>
            </p:cNvPr>
            <p:cNvSpPr txBox="1"/>
            <p:nvPr userDrawn="1"/>
          </p:nvSpPr>
          <p:spPr>
            <a:xfrm>
              <a:off x="2184981" y="4873367"/>
              <a:ext cx="1168843" cy="1657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9082"/>
              <a:r>
                <a:rPr lang="en-US" sz="1400" b="1">
                  <a:solidFill>
                    <a:srgbClr val="8C9599">
                      <a:lumMod val="50000"/>
                    </a:srgbClr>
                  </a:solidFill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7895A49F-04D5-5E48-88BF-10579EB5E39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0">
                  <a:solidFill>
                    <a:srgbClr val="003DA1"/>
                  </a:solidFill>
                </a:rPr>
                <a:t>UHC</a:t>
              </a:r>
              <a:r>
                <a:rPr lang="en-US" sz="1400">
                  <a:solidFill>
                    <a:srgbClr val="FF5F0E"/>
                  </a:solidFill>
                </a:rPr>
                <a:t>Technology</a:t>
              </a:r>
            </a:p>
          </p:txBody>
        </p:sp>
        <p:cxnSp>
          <p:nvCxnSpPr>
            <p:cNvPr id="8" name="Straight Connector 7"/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773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219082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34928" indent="-234928" algn="l" defTabSz="1219082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1pPr>
      <a:lvl2pPr marL="457156" indent="-203181" algn="l" defTabSz="1219082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-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539698" indent="0" algn="l" defTabSz="1219082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None/>
        <a:defRPr sz="2400" kern="1200">
          <a:solidFill>
            <a:srgbClr val="4D4D4D"/>
          </a:solidFill>
          <a:latin typeface="+mn-lt"/>
          <a:ea typeface="+mn-ea"/>
          <a:cs typeface="+mn-cs"/>
        </a:defRPr>
      </a:lvl3pPr>
      <a:lvl4pPr marL="996854" indent="-234928" algn="l" defTabSz="1219082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–"/>
        <a:defRPr sz="2400" kern="1200">
          <a:solidFill>
            <a:srgbClr val="4D4D4D"/>
          </a:solidFill>
          <a:latin typeface="+mn-lt"/>
          <a:ea typeface="+mn-ea"/>
          <a:cs typeface="+mn-cs"/>
        </a:defRPr>
      </a:lvl4pPr>
      <a:lvl5pPr marL="1301626" indent="-304770" algn="l" defTabSz="1219082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»"/>
        <a:defRPr sz="24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477" indent="-304770" algn="l" defTabSz="1219082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6pPr>
      <a:lvl7pPr marL="3962019" indent="-304770" algn="l" defTabSz="1219082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7pPr>
      <a:lvl8pPr marL="4571559" indent="-304770" algn="l" defTabSz="1219082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8pPr>
      <a:lvl9pPr marL="4876330" indent="0" algn="l" defTabSz="1219082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defRPr sz="2400" kern="1200" baseline="0">
          <a:solidFill>
            <a:srgbClr val="4D4D4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42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2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24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65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07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47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89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30" algn="l" defTabSz="121908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6">
          <p15:clr>
            <a:srgbClr val="F26B43"/>
          </p15:clr>
        </p15:guide>
        <p15:guide id="2" pos="504">
          <p15:clr>
            <a:srgbClr val="F26B43"/>
          </p15:clr>
        </p15:guide>
        <p15:guide id="3" pos="576">
          <p15:clr>
            <a:srgbClr val="F26B43"/>
          </p15:clr>
        </p15:guide>
        <p15:guide id="4" orient="horz" pos="1476">
          <p15:clr>
            <a:srgbClr val="F26B43"/>
          </p15:clr>
        </p15:guide>
        <p15:guide id="5" pos="2592">
          <p15:clr>
            <a:srgbClr val="F26B43"/>
          </p15:clr>
        </p15:guide>
        <p15:guide id="6" orient="horz" pos="3156">
          <p15:clr>
            <a:srgbClr val="F26B43"/>
          </p15:clr>
        </p15:guide>
        <p15:guide id="7" pos="2976">
          <p15:clr>
            <a:srgbClr val="F26B43"/>
          </p15:clr>
        </p15:guide>
        <p15:guide id="8" orient="horz" pos="1548">
          <p15:clr>
            <a:srgbClr val="F26B43"/>
          </p15:clr>
        </p15:guide>
        <p15:guide id="9" orient="horz" pos="3036">
          <p15:clr>
            <a:srgbClr val="F26B43"/>
          </p15:clr>
        </p15:guide>
        <p15:guide id="10" pos="26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693169" y="1691278"/>
            <a:ext cx="6349390" cy="2277427"/>
          </a:xfrm>
        </p:spPr>
        <p:txBody>
          <a:bodyPr>
            <a:normAutofit/>
          </a:bodyPr>
          <a:lstStyle/>
          <a:p>
            <a:r>
              <a:rPr lang="en-US" sz="2400" dirty="0"/>
              <a:t>UnitedHealthcare Community Plan</a:t>
            </a:r>
            <a:br>
              <a:rPr lang="en-US" sz="2400" dirty="0"/>
            </a:br>
            <a:br>
              <a:rPr lang="en-US" sz="2400" dirty="0"/>
            </a:br>
            <a:r>
              <a:rPr lang="en-US" sz="2000" b="0" dirty="0"/>
              <a:t>Project Status – From {FROM_DATE} To {TO_DATE}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0769600" y="6461125"/>
            <a:ext cx="1422400" cy="16827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9BDA0-AF0E-4BA8-B742-3B9C92A3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C95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C959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21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AC6989-B19D-0C0F-90C0-A6B7AAD4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8C9599"/>
                </a:solidFill>
              </a:rPr>
              <a:t>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BA34B87-8905-B210-70C6-C6FD8084C7F1}"/>
              </a:ext>
            </a:extLst>
          </p:cNvPr>
          <p:cNvSpPr txBox="1">
            <a:spLocks/>
          </p:cNvSpPr>
          <p:nvPr/>
        </p:nvSpPr>
        <p:spPr>
          <a:xfrm>
            <a:off x="10169525" y="6461603"/>
            <a:ext cx="1422400" cy="167847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0F9BDA0-AF0E-4BA8-B742-3B9C92A3E6FE}" type="slidenum">
              <a:rPr lang="en-US" smtClean="0">
                <a:solidFill>
                  <a:srgbClr val="8C9599"/>
                </a:solidFill>
                <a:latin typeface="Arial"/>
              </a:rPr>
              <a:pPr>
                <a:defRPr/>
              </a:pPr>
              <a:t>2</a:t>
            </a:fld>
            <a:endParaRPr lang="en-US" dirty="0">
              <a:solidFill>
                <a:srgbClr val="8C9599"/>
              </a:solidFill>
              <a:latin typeface="Arial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DF33B5B0-F70B-9480-F720-A64353A626F5}"/>
              </a:ext>
            </a:extLst>
          </p:cNvPr>
          <p:cNvSpPr txBox="1">
            <a:spLocks/>
          </p:cNvSpPr>
          <p:nvPr/>
        </p:nvSpPr>
        <p:spPr>
          <a:xfrm>
            <a:off x="1076326" y="92080"/>
            <a:ext cx="9366068" cy="700426"/>
          </a:xfrm>
          <a:prstGeom prst="rect">
            <a:avLst/>
          </a:prstGeom>
        </p:spPr>
        <p:txBody>
          <a:bodyPr vert="horz" lIns="121909" tIns="60954" rIns="121909" bIns="60954" rtlCol="0" anchor="b">
            <a:normAutofit/>
          </a:bodyPr>
          <a:lstStyle>
            <a:lvl1pPr algn="l" defTabSz="121908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{TEAM} Project Status Review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75A7D830-71FB-13C6-5233-F2D343FB2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202071"/>
              </p:ext>
            </p:extLst>
          </p:nvPr>
        </p:nvGraphicFramePr>
        <p:xfrm>
          <a:off x="888553" y="1277587"/>
          <a:ext cx="11008768" cy="439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481">
                  <a:extLst>
                    <a:ext uri="{9D8B030D-6E8A-4147-A177-3AD203B41FA5}">
                      <a16:colId xmlns:a16="http://schemas.microsoft.com/office/drawing/2014/main" val="364199090"/>
                    </a:ext>
                  </a:extLst>
                </a:gridCol>
                <a:gridCol w="1103699">
                  <a:extLst>
                    <a:ext uri="{9D8B030D-6E8A-4147-A177-3AD203B41FA5}">
                      <a16:colId xmlns:a16="http://schemas.microsoft.com/office/drawing/2014/main" val="2358404644"/>
                    </a:ext>
                  </a:extLst>
                </a:gridCol>
                <a:gridCol w="4193628">
                  <a:extLst>
                    <a:ext uri="{9D8B030D-6E8A-4147-A177-3AD203B41FA5}">
                      <a16:colId xmlns:a16="http://schemas.microsoft.com/office/drawing/2014/main" val="1982823188"/>
                    </a:ext>
                  </a:extLst>
                </a:gridCol>
                <a:gridCol w="1345324">
                  <a:extLst>
                    <a:ext uri="{9D8B030D-6E8A-4147-A177-3AD203B41FA5}">
                      <a16:colId xmlns:a16="http://schemas.microsoft.com/office/drawing/2014/main" val="944372132"/>
                    </a:ext>
                  </a:extLst>
                </a:gridCol>
                <a:gridCol w="1955047">
                  <a:extLst>
                    <a:ext uri="{9D8B030D-6E8A-4147-A177-3AD203B41FA5}">
                      <a16:colId xmlns:a16="http://schemas.microsoft.com/office/drawing/2014/main" val="1942001589"/>
                    </a:ext>
                  </a:extLst>
                </a:gridCol>
                <a:gridCol w="1799589">
                  <a:extLst>
                    <a:ext uri="{9D8B030D-6E8A-4147-A177-3AD203B41FA5}">
                      <a16:colId xmlns:a16="http://schemas.microsoft.com/office/drawing/2014/main" val="4247401697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 No.</a:t>
                      </a:r>
                      <a:endParaRPr lang="en-US"/>
                    </a:p>
                  </a:txBody>
                  <a:tcPr marL="6936" marR="6936" marT="6936" marB="0" anchor="ctr"/>
                </a:tc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</a:t>
                      </a:r>
                      <a:endParaRPr lang="en-US"/>
                    </a:p>
                  </a:txBody>
                  <a:tcPr marL="6936" marR="6936" marT="6936" marB="0" anchor="ctr"/>
                </a:tc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36" marR="6936" marT="6936" marB="0" anchor="ctr"/>
                </a:tc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36" marR="6936" marT="6936" marB="0" anchor="ctr"/>
                </a:tc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</a:rPr>
                        <a:t>Current Status </a:t>
                      </a:r>
                      <a:endParaRPr 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36" marR="6936" marT="6936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kern="1200" baseline="0" noProof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Schedule for Release Target</a:t>
                      </a:r>
                      <a:endParaRPr lang="en-US"/>
                    </a:p>
                  </a:txBody>
                  <a:tcPr marL="6936" marR="6936" marT="6936" marB="0" anchor="ctr"/>
                </a:tc>
                <a:extLst>
                  <a:ext uri="{0D108BD9-81ED-4DB2-BD59-A6C34878D82A}">
                    <a16:rowId xmlns:a16="http://schemas.microsoft.com/office/drawing/2014/main" val="1262095794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C0D0E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kern="1200" dirty="0">
                          <a:solidFill>
                            <a:srgbClr val="0C0D0E"/>
                          </a:solidFill>
                          <a:latin typeface="Calibri"/>
                          <a:ea typeface="+mn-ea"/>
                          <a:cs typeface="Calibri"/>
                        </a:rPr>
                        <a:t>US00000000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kern="1200" dirty="0">
                          <a:solidFill>
                            <a:srgbClr val="0C0D0E"/>
                          </a:solidFill>
                          <a:latin typeface="Calibri"/>
                          <a:ea typeface="+mn-ea"/>
                          <a:cs typeface="Calibri"/>
                        </a:rPr>
                        <a:t>Security </a:t>
                      </a:r>
                      <a:r>
                        <a:rPr lang="en-US" sz="1200" b="1" kern="1200" dirty="0" err="1">
                          <a:solidFill>
                            <a:srgbClr val="0C0D0E"/>
                          </a:solidFill>
                          <a:latin typeface="Calibri"/>
                          <a:ea typeface="+mn-ea"/>
                          <a:cs typeface="Calibri"/>
                        </a:rPr>
                        <a:t>Dependabot</a:t>
                      </a:r>
                      <a:r>
                        <a:rPr lang="en-US" sz="1200" b="1" kern="1200" dirty="0">
                          <a:solidFill>
                            <a:srgbClr val="0C0D0E"/>
                          </a:solidFill>
                          <a:latin typeface="Calibri"/>
                          <a:ea typeface="+mn-ea"/>
                          <a:cs typeface="Calibri"/>
                        </a:rPr>
                        <a:t> High : Update node-tar Issue</a:t>
                      </a: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Medium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noProof="0" dirty="0">
                          <a:solidFill>
                            <a:srgbClr val="0C0D0E"/>
                          </a:solidFill>
                          <a:effectLst/>
                          <a:latin typeface="Calibri"/>
                        </a:rPr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D0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02/18/26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309257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  <a:p>
                      <a:pPr marL="0" lvl="0" indent="0" algn="ctr">
                        <a:buFontTx/>
                        <a:buNone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911197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  <a:p>
                      <a:pPr marL="0" lvl="0" indent="0" algn="ctr">
                        <a:buFontTx/>
                        <a:buNone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239033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  <a:p>
                      <a:pPr marL="0" lvl="0" indent="0" algn="ctr">
                        <a:buFontTx/>
                        <a:buNone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831788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  <a:p>
                      <a:pPr marL="0" lvl="0" indent="0" algn="ctr">
                        <a:buFontTx/>
                        <a:buNone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286244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  <a:p>
                      <a:pPr marL="0" lvl="0" indent="0" algn="ctr">
                        <a:buFontTx/>
                        <a:buNone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914814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endParaRPr lang="en-US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D0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 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580073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IN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kumimoji="0" lang="en-IN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297363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n-IN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kumimoji="0" lang="en-IN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6232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 kern="1200" dirty="0">
                        <a:solidFill>
                          <a:srgbClr val="0C0D0E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1" kern="1200" dirty="0">
                        <a:solidFill>
                          <a:srgbClr val="0C0D0E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200" b="1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noProof="0" dirty="0">
                        <a:solidFill>
                          <a:srgbClr val="0C0D0E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0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C0D0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409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5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034F9C-E9FF-4139-A987-798B6BD63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dirty="0" smtClean="0">
                <a:solidFill>
                  <a:srgbClr val="8C9599"/>
                </a:solidFill>
              </a:rPr>
              <a:pPr/>
              <a:t>3</a:t>
            </a:fld>
            <a:endParaRPr lang="en-US">
              <a:solidFill>
                <a:srgbClr val="8C959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C7D350-E4E0-44A8-A45F-83F1FCA5DE8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1" y="295801"/>
            <a:ext cx="7694245" cy="700426"/>
          </a:xfrm>
          <a:prstGeom prst="rect">
            <a:avLst/>
          </a:prstGeom>
        </p:spPr>
        <p:txBody>
          <a:bodyPr/>
          <a:lstStyle/>
          <a:p>
            <a:r>
              <a:rPr lang="en-US" b="0" i="0" u="none" strike="noStrike" dirty="0">
                <a:solidFill>
                  <a:srgbClr val="242424"/>
                </a:solidFill>
                <a:effectLst/>
                <a:latin typeface="Segoe UI"/>
                <a:cs typeface="Segoe UI"/>
              </a:rPr>
              <a:t> Release/ Holiday Dates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64BC5-BD06-45D9-9CF7-65E8B0ADAB62}"/>
              </a:ext>
            </a:extLst>
          </p:cNvPr>
          <p:cNvSpPr txBox="1"/>
          <p:nvPr/>
        </p:nvSpPr>
        <p:spPr>
          <a:xfrm>
            <a:off x="1066801" y="1534308"/>
            <a:ext cx="963167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b="1" dirty="0">
                <a:solidFill>
                  <a:srgbClr val="198416"/>
                </a:solidFill>
                <a:latin typeface="Calibri"/>
                <a:cs typeface="Calibri"/>
              </a:rPr>
              <a:t>Next release:</a:t>
            </a:r>
            <a:endParaRPr lang="en-US" dirty="0">
              <a:solidFill>
                <a:srgbClr val="198416"/>
              </a:solidFill>
              <a:latin typeface="Calibri"/>
              <a:cs typeface="Calibri"/>
            </a:endParaRPr>
          </a:p>
          <a:p>
            <a:pPr fontAlgn="base"/>
            <a:r>
              <a:rPr lang="en-US" b="1" dirty="0">
                <a:solidFill>
                  <a:srgbClr val="198416"/>
                </a:solidFill>
                <a:latin typeface="Calibri"/>
                <a:cs typeface="Calibri"/>
              </a:rPr>
              <a:t>Next Holiday : -</a:t>
            </a:r>
            <a:endParaRPr lang="en-US" dirty="0">
              <a:solidFill>
                <a:srgbClr val="19841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271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UHCTechnology_Template">
  <a:themeElements>
    <a:clrScheme name="UnitedHealthcare_AllColors_3.0">
      <a:dk1>
        <a:srgbClr val="8C9599"/>
      </a:dk1>
      <a:lt1>
        <a:srgbClr val="FFFFFF"/>
      </a:lt1>
      <a:dk2>
        <a:srgbClr val="122377"/>
      </a:dk2>
      <a:lt2>
        <a:srgbClr val="C0E9FF"/>
      </a:lt2>
      <a:accent1>
        <a:srgbClr val="003DA1"/>
      </a:accent1>
      <a:accent2>
        <a:srgbClr val="FF5F0E"/>
      </a:accent2>
      <a:accent3>
        <a:srgbClr val="00A8F7"/>
      </a:accent3>
      <a:accent4>
        <a:srgbClr val="9521AD"/>
      </a:accent4>
      <a:accent5>
        <a:srgbClr val="21B01E"/>
      </a:accent5>
      <a:accent6>
        <a:srgbClr val="E91B18"/>
      </a:accent6>
      <a:hlink>
        <a:srgbClr val="003DA1"/>
      </a:hlink>
      <a:folHlink>
        <a:srgbClr val="00A8F7"/>
      </a:folHlink>
    </a:clrScheme>
    <a:fontScheme name="UnitedHealthca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A8F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A8F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1450" indent="-171450">
          <a:spcAft>
            <a:spcPts val="400"/>
          </a:spcAft>
          <a:buClr>
            <a:schemeClr val="accent3"/>
          </a:buClr>
          <a:buFont typeface="Arial" panose="020B0604020202020204" pitchFamily="34" charset="0"/>
          <a:buChar char="•"/>
          <a:defRPr dirty="0" smtClean="0">
            <a:solidFill>
              <a:srgbClr val="4D4D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HCTechnology_Template_v2" id="{DBA7EF4D-AD6C-3B4E-B2E7-DFFBAC215C54}" vid="{5685A221-050E-574F-842A-A51F198A0C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C77EBCEB386146B0EAD6BB001FDE68" ma:contentTypeVersion="15" ma:contentTypeDescription="Create a new document." ma:contentTypeScope="" ma:versionID="dc0fb019d475a2acd9dda6c333416c4b">
  <xsd:schema xmlns:xsd="http://www.w3.org/2001/XMLSchema" xmlns:xs="http://www.w3.org/2001/XMLSchema" xmlns:p="http://schemas.microsoft.com/office/2006/metadata/properties" xmlns:ns2="c75ccb01-4372-4d4e-a374-e3bfd486eea8" xmlns:ns3="aa5469d1-1467-4a8a-a8e0-b6d4fb9b8412" targetNamespace="http://schemas.microsoft.com/office/2006/metadata/properties" ma:root="true" ma:fieldsID="fc3cbe758e6c5b7b2380552667c8bc4f" ns2:_="" ns3:_="">
    <xsd:import namespace="c75ccb01-4372-4d4e-a374-e3bfd486eea8"/>
    <xsd:import namespace="aa5469d1-1467-4a8a-a8e0-b6d4fb9b84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5ccb01-4372-4d4e-a374-e3bfd486ee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2a6b2b66-40d8-4e06-8a39-adc3ecd45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5469d1-1467-4a8a-a8e0-b6d4fb9b841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32c5023-f59b-4b68-9005-beb8af349626}" ma:internalName="TaxCatchAll" ma:showField="CatchAllData" ma:web="aa5469d1-1467-4a8a-a8e0-b6d4fb9b84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5469d1-1467-4a8a-a8e0-b6d4fb9b8412" xsi:nil="true"/>
    <lcf76f155ced4ddcb4097134ff3c332f xmlns="c75ccb01-4372-4d4e-a374-e3bfd486eea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E12AB1-6759-4F88-B75E-F1D60931173C}">
  <ds:schemaRefs>
    <ds:schemaRef ds:uri="aa5469d1-1467-4a8a-a8e0-b6d4fb9b8412"/>
    <ds:schemaRef ds:uri="c75ccb01-4372-4d4e-a374-e3bfd486ee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FC0A77-3634-4714-96E1-00E2D56175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A89843-EE05-4806-917E-C092C8AAB808}">
  <ds:schemaRefs>
    <ds:schemaRef ds:uri="aa5469d1-1467-4a8a-a8e0-b6d4fb9b8412"/>
    <ds:schemaRef ds:uri="c75ccb01-4372-4d4e-a374-e3bfd486ee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67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Segoe UI</vt:lpstr>
      <vt:lpstr>UHCTechnology_Template</vt:lpstr>
      <vt:lpstr>UnitedHealthcare Community Plan  Project Status – From {FROM_DATE} To {TO_DATE}</vt:lpstr>
      <vt:lpstr>PowerPoint Presentation</vt:lpstr>
      <vt:lpstr> Release/ Holiday Dates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UHCCP – Project Status Review</dc:title>
  <dc:creator>Gupta, Sumit (Portals)</dc:creator>
  <cp:lastModifiedBy>Ajith, Mandava S</cp:lastModifiedBy>
  <cp:revision>15</cp:revision>
  <dcterms:created xsi:type="dcterms:W3CDTF">2020-09-01T12:27:17Z</dcterms:created>
  <dcterms:modified xsi:type="dcterms:W3CDTF">2026-03-06T05:50:39Z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0x01010052C77EBCEB386146B0EAD6BB001FDE68</vt:lpwstr>
  </property>
  <property fmtid="{D5CDD505-2E9C-101B-9397-08002B2CF9AE}" pid="3" name="MSIP_Label_a8a73c85-e524-44a6-bd58-7df7ef87be8f_Enabled">
    <vt:lpwstr>true</vt:lpwstr>
  </property>
  <property fmtid="{D5CDD505-2E9C-101B-9397-08002B2CF9AE}" pid="4" name="MSIP_Label_a8a73c85-e524-44a6-bd58-7df7ef87be8f_SetDate">
    <vt:lpwstr>2022-09-26T06:16:35Z</vt:lpwstr>
  </property>
  <property fmtid="{D5CDD505-2E9C-101B-9397-08002B2CF9AE}" pid="5" name="MSIP_Label_a8a73c85-e524-44a6-bd58-7df7ef87be8f_Method">
    <vt:lpwstr>Privileged</vt:lpwstr>
  </property>
  <property fmtid="{D5CDD505-2E9C-101B-9397-08002B2CF9AE}" pid="6" name="MSIP_Label_a8a73c85-e524-44a6-bd58-7df7ef87be8f_Name">
    <vt:lpwstr>Internal Label</vt:lpwstr>
  </property>
  <property fmtid="{D5CDD505-2E9C-101B-9397-08002B2CF9AE}" pid="7" name="MSIP_Label_a8a73c85-e524-44a6-bd58-7df7ef87be8f_SiteId">
    <vt:lpwstr>db05faca-c82a-4b9d-b9c5-0f64b6755421</vt:lpwstr>
  </property>
  <property fmtid="{D5CDD505-2E9C-101B-9397-08002B2CF9AE}" pid="8" name="MSIP_Label_a8a73c85-e524-44a6-bd58-7df7ef87be8f_ActionId">
    <vt:lpwstr>a1218ea7-8706-48ed-9471-49baf76280e9</vt:lpwstr>
  </property>
  <property fmtid="{D5CDD505-2E9C-101B-9397-08002B2CF9AE}" pid="9" name="MSIP_Label_a8a73c85-e524-44a6-bd58-7df7ef87be8f_ContentBits">
    <vt:lpwstr>0</vt:lpwstr>
  </property>
  <property fmtid="{D5CDD505-2E9C-101B-9397-08002B2CF9AE}" pid="10" name="MediaServiceImageTags">
    <vt:lpwstr/>
  </property>
</Properties>
</file>